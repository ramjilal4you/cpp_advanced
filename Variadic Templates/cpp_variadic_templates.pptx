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C++ Variadic Templates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Overview with Code Snippets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Variadic templates allow functions and classes to accept an arbitrary number of template arguments.</a:t>
            </a:r>
          </a:p>
          <a:p>
            <a:r>
              <a:t>Introduced in C++11, they enable flexible and reusable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>
                <a:latin typeface="Arial monospaced for SAP" panose="020B0609020202030204" pitchFamily="49" charset="0"/>
              </a:rPr>
              <a:t>template&lt;typename T&gt;</a:t>
            </a:r>
          </a:p>
          <a:p>
            <a:pPr marL="0" indent="0">
              <a:buNone/>
            </a:pPr>
            <a:r>
              <a:rPr sz="2400" dirty="0">
                <a:latin typeface="Arial monospaced for SAP" panose="020B0609020202030204" pitchFamily="49" charset="0"/>
              </a:rPr>
              <a:t>void print(T t) {</a:t>
            </a:r>
          </a:p>
          <a:p>
            <a:pPr marL="0" indent="0">
              <a:buNone/>
            </a:pPr>
            <a:r>
              <a:rPr sz="2400" dirty="0">
                <a:latin typeface="Arial monospaced for SAP" panose="020B0609020202030204" pitchFamily="49" charset="0"/>
              </a:rPr>
              <a:t>    std::</a:t>
            </a:r>
            <a:r>
              <a:rPr sz="2400" dirty="0" err="1">
                <a:latin typeface="Arial monospaced for SAP" panose="020B0609020202030204" pitchFamily="49" charset="0"/>
              </a:rPr>
              <a:t>cout</a:t>
            </a:r>
            <a:r>
              <a:rPr sz="2400" dirty="0">
                <a:latin typeface="Arial monospaced for SAP" panose="020B0609020202030204" pitchFamily="49" charset="0"/>
              </a:rPr>
              <a:t> &lt;&lt; t &lt;&lt; std::</a:t>
            </a:r>
            <a:r>
              <a:rPr sz="2400" dirty="0" err="1">
                <a:latin typeface="Arial monospaced for SAP" panose="020B0609020202030204" pitchFamily="49" charset="0"/>
              </a:rPr>
              <a:t>endl</a:t>
            </a:r>
            <a:r>
              <a:rPr sz="2400" dirty="0">
                <a:latin typeface="Arial monospaced for SAP" panose="020B0609020202030204" pitchFamily="49" charset="0"/>
              </a:rPr>
              <a:t>;</a:t>
            </a:r>
          </a:p>
          <a:p>
            <a:pPr marL="0" indent="0">
              <a:buNone/>
            </a:pPr>
            <a:r>
              <a:rPr sz="2400" dirty="0">
                <a:latin typeface="Arial monospaced for SAP" panose="020B0609020202030204" pitchFamily="49" charset="0"/>
              </a:rPr>
              <a:t>}</a:t>
            </a:r>
          </a:p>
          <a:p>
            <a:pPr marL="0" indent="0">
              <a:buNone/>
            </a:pPr>
            <a:endParaRPr sz="2400" dirty="0">
              <a:latin typeface="Arial monospaced for SAP" panose="020B0609020202030204" pitchFamily="49" charset="0"/>
            </a:endParaRPr>
          </a:p>
          <a:p>
            <a:pPr marL="0" indent="0">
              <a:buNone/>
            </a:pPr>
            <a:r>
              <a:rPr sz="2400" dirty="0">
                <a:latin typeface="Arial monospaced for SAP" panose="020B0609020202030204" pitchFamily="49" charset="0"/>
              </a:rPr>
              <a:t>template&lt;typename T, typename... </a:t>
            </a:r>
            <a:r>
              <a:rPr sz="2400" dirty="0" err="1">
                <a:latin typeface="Arial monospaced for SAP" panose="020B0609020202030204" pitchFamily="49" charset="0"/>
              </a:rPr>
              <a:t>Args</a:t>
            </a:r>
            <a:r>
              <a:rPr sz="2400" dirty="0">
                <a:latin typeface="Arial monospaced for SAP" panose="020B0609020202030204" pitchFamily="49" charset="0"/>
              </a:rPr>
              <a:t>&gt;</a:t>
            </a:r>
          </a:p>
          <a:p>
            <a:pPr marL="0" indent="0">
              <a:buNone/>
            </a:pPr>
            <a:r>
              <a:rPr sz="2400" dirty="0">
                <a:latin typeface="Arial monospaced for SAP" panose="020B0609020202030204" pitchFamily="49" charset="0"/>
              </a:rPr>
              <a:t>void print(T </a:t>
            </a:r>
            <a:r>
              <a:rPr sz="2400" dirty="0" err="1">
                <a:latin typeface="Arial monospaced for SAP" panose="020B0609020202030204" pitchFamily="49" charset="0"/>
              </a:rPr>
              <a:t>t</a:t>
            </a:r>
            <a:r>
              <a:rPr sz="2400" dirty="0">
                <a:latin typeface="Arial monospaced for SAP" panose="020B0609020202030204" pitchFamily="49" charset="0"/>
              </a:rPr>
              <a:t>, </a:t>
            </a:r>
            <a:r>
              <a:rPr sz="2400" dirty="0" err="1">
                <a:latin typeface="Arial monospaced for SAP" panose="020B0609020202030204" pitchFamily="49" charset="0"/>
              </a:rPr>
              <a:t>Args</a:t>
            </a:r>
            <a:r>
              <a:rPr sz="2400" dirty="0">
                <a:latin typeface="Arial monospaced for SAP" panose="020B0609020202030204" pitchFamily="49" charset="0"/>
              </a:rPr>
              <a:t>... </a:t>
            </a:r>
            <a:r>
              <a:rPr sz="2400" dirty="0" err="1">
                <a:latin typeface="Arial monospaced for SAP" panose="020B0609020202030204" pitchFamily="49" charset="0"/>
              </a:rPr>
              <a:t>args</a:t>
            </a:r>
            <a:r>
              <a:rPr sz="2400" dirty="0">
                <a:latin typeface="Arial monospaced for SAP" panose="020B0609020202030204" pitchFamily="49" charset="0"/>
              </a:rPr>
              <a:t>) {</a:t>
            </a:r>
          </a:p>
          <a:p>
            <a:pPr marL="0" indent="0">
              <a:buNone/>
            </a:pPr>
            <a:r>
              <a:rPr sz="2400" dirty="0">
                <a:latin typeface="Arial monospaced for SAP" panose="020B0609020202030204" pitchFamily="49" charset="0"/>
              </a:rPr>
              <a:t>    std::</a:t>
            </a:r>
            <a:r>
              <a:rPr sz="2400" dirty="0" err="1">
                <a:latin typeface="Arial monospaced for SAP" panose="020B0609020202030204" pitchFamily="49" charset="0"/>
              </a:rPr>
              <a:t>cout</a:t>
            </a:r>
            <a:r>
              <a:rPr sz="2400" dirty="0">
                <a:latin typeface="Arial monospaced for SAP" panose="020B0609020202030204" pitchFamily="49" charset="0"/>
              </a:rPr>
              <a:t> &lt;&lt; t &lt;&lt; " ";</a:t>
            </a:r>
          </a:p>
          <a:p>
            <a:pPr marL="0" indent="0">
              <a:buNone/>
            </a:pPr>
            <a:r>
              <a:rPr sz="2400" dirty="0">
                <a:latin typeface="Arial monospaced for SAP" panose="020B0609020202030204" pitchFamily="49" charset="0"/>
              </a:rPr>
              <a:t>    print(</a:t>
            </a:r>
            <a:r>
              <a:rPr sz="2400" dirty="0" err="1">
                <a:latin typeface="Arial monospaced for SAP" panose="020B0609020202030204" pitchFamily="49" charset="0"/>
              </a:rPr>
              <a:t>args</a:t>
            </a:r>
            <a:r>
              <a:rPr sz="2400" dirty="0">
                <a:latin typeface="Arial monospaced for SAP" panose="020B0609020202030204" pitchFamily="49" charset="0"/>
              </a:rPr>
              <a:t>...);</a:t>
            </a:r>
          </a:p>
          <a:p>
            <a:pPr marL="0" indent="0">
              <a:buNone/>
            </a:pPr>
            <a:r>
              <a:rPr sz="2400" dirty="0">
                <a:latin typeface="Arial monospaced for SAP" panose="020B0609020202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Args... is a parameter pack that holds zero or more template arguments.</a:t>
            </a:r>
          </a:p>
          <a:p>
            <a:r>
              <a:t>- The function recursively unpacks one argument at a time.</a:t>
            </a:r>
          </a:p>
          <a:p>
            <a:r>
              <a:t>- Useful for functions with variable number of arguments.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Logging utilities</a:t>
            </a:r>
          </a:p>
          <a:p>
            <a:r>
              <a:t>- Tuple-like structures</a:t>
            </a:r>
          </a:p>
          <a:p>
            <a:r>
              <a:t>- Generic forwarding functions with std::forward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Example: Sum of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template&lt;typename T&gt;</a:t>
            </a:r>
          </a:p>
          <a:p>
            <a:r>
              <a:t>T sum(T t) {</a:t>
            </a:r>
          </a:p>
          <a:p>
            <a:r>
              <a:t>    return t;</a:t>
            </a:r>
          </a:p>
          <a:p>
            <a:r>
              <a:t>}</a:t>
            </a:r>
          </a:p>
          <a:p>
            <a:endParaRPr/>
          </a:p>
          <a:p>
            <a:r>
              <a:t>template&lt;typename T, typename... Args&gt;</a:t>
            </a:r>
          </a:p>
          <a:p>
            <a:r>
              <a:t>T sum(T t, Args... args) {</a:t>
            </a:r>
          </a:p>
          <a:p>
            <a:r>
              <a:t>    return t + sum(args...);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Fold Expressions (C++17)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template&lt;typename... Args&gt;</a:t>
            </a:r>
          </a:p>
          <a:p>
            <a:r>
              <a:t>auto sum(Args... args) {</a:t>
            </a:r>
          </a:p>
          <a:p>
            <a:r>
              <a:t>    return (args + ...); // Unary right fold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Variadic Templates in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>
                <a:latin typeface="Arial monospaced for SAP" panose="020B0609020202030204" pitchFamily="49" charset="0"/>
              </a:rPr>
              <a:t>template&lt;typename... </a:t>
            </a:r>
            <a:r>
              <a:rPr sz="2400" dirty="0" err="1">
                <a:latin typeface="Arial monospaced for SAP" panose="020B0609020202030204" pitchFamily="49" charset="0"/>
              </a:rPr>
              <a:t>Args</a:t>
            </a:r>
            <a:r>
              <a:rPr sz="2400" dirty="0">
                <a:latin typeface="Arial monospaced for SAP" panose="020B0609020202030204" pitchFamily="49" charset="0"/>
              </a:rPr>
              <a:t>&gt;</a:t>
            </a:r>
          </a:p>
          <a:p>
            <a:pPr marL="0" indent="0">
              <a:buNone/>
            </a:pPr>
            <a:r>
              <a:rPr sz="2400" dirty="0">
                <a:latin typeface="Arial monospaced for SAP" panose="020B0609020202030204" pitchFamily="49" charset="0"/>
              </a:rPr>
              <a:t>class </a:t>
            </a:r>
            <a:r>
              <a:rPr sz="2400" dirty="0" err="1">
                <a:latin typeface="Arial monospaced for SAP" panose="020B0609020202030204" pitchFamily="49" charset="0"/>
              </a:rPr>
              <a:t>MyClass</a:t>
            </a:r>
            <a:r>
              <a:rPr sz="2400" dirty="0">
                <a:latin typeface="Arial monospaced for SAP" panose="020B0609020202030204" pitchFamily="49" charset="0"/>
              </a:rPr>
              <a:t> {</a:t>
            </a:r>
          </a:p>
          <a:p>
            <a:pPr marL="0" indent="0">
              <a:buNone/>
            </a:pPr>
            <a:r>
              <a:rPr sz="2400" dirty="0">
                <a:latin typeface="Arial monospaced for SAP" panose="020B0609020202030204" pitchFamily="49" charset="0"/>
              </a:rPr>
              <a:t>public:</a:t>
            </a:r>
          </a:p>
          <a:p>
            <a:pPr marL="0" indent="0">
              <a:buNone/>
            </a:pPr>
            <a:r>
              <a:rPr sz="2400" dirty="0">
                <a:latin typeface="Arial monospaced for SAP" panose="020B0609020202030204" pitchFamily="49" charset="0"/>
              </a:rPr>
              <a:t>    </a:t>
            </a:r>
            <a:r>
              <a:rPr sz="2400" dirty="0" err="1">
                <a:latin typeface="Arial monospaced for SAP" panose="020B0609020202030204" pitchFamily="49" charset="0"/>
              </a:rPr>
              <a:t>MyClass</a:t>
            </a:r>
            <a:r>
              <a:rPr sz="2400" dirty="0">
                <a:latin typeface="Arial monospaced for SAP" panose="020B0609020202030204" pitchFamily="49" charset="0"/>
              </a:rPr>
              <a:t>(</a:t>
            </a:r>
            <a:r>
              <a:rPr sz="2400" dirty="0" err="1">
                <a:latin typeface="Arial monospaced for SAP" panose="020B0609020202030204" pitchFamily="49" charset="0"/>
              </a:rPr>
              <a:t>Args</a:t>
            </a:r>
            <a:r>
              <a:rPr sz="2400" dirty="0">
                <a:latin typeface="Arial monospaced for SAP" panose="020B0609020202030204" pitchFamily="49" charset="0"/>
              </a:rPr>
              <a:t>... </a:t>
            </a:r>
            <a:r>
              <a:rPr sz="2400" dirty="0" err="1">
                <a:latin typeface="Arial monospaced for SAP" panose="020B0609020202030204" pitchFamily="49" charset="0"/>
              </a:rPr>
              <a:t>args</a:t>
            </a:r>
            <a:r>
              <a:rPr sz="2400" dirty="0">
                <a:latin typeface="Arial monospaced for SAP" panose="020B0609020202030204" pitchFamily="49" charset="0"/>
              </a:rPr>
              <a:t>) {</a:t>
            </a:r>
          </a:p>
          <a:p>
            <a:pPr marL="0" indent="0">
              <a:buNone/>
            </a:pPr>
            <a:r>
              <a:rPr sz="2400" dirty="0">
                <a:latin typeface="Arial monospaced for SAP" panose="020B0609020202030204" pitchFamily="49" charset="0"/>
              </a:rPr>
              <a:t>        // Constructor logic</a:t>
            </a:r>
          </a:p>
          <a:p>
            <a:pPr marL="0" indent="0">
              <a:buNone/>
            </a:pPr>
            <a:r>
              <a:rPr sz="2400" dirty="0">
                <a:latin typeface="Arial monospaced for SAP" panose="020B0609020202030204" pitchFamily="49" charset="0"/>
              </a:rPr>
              <a:t>    }</a:t>
            </a:r>
          </a:p>
          <a:p>
            <a:pPr marL="0" indent="0">
              <a:buNone/>
            </a:pPr>
            <a:r>
              <a:rPr sz="2400" dirty="0">
                <a:latin typeface="Arial monospaced for SAP" panose="020B0609020202030204" pitchFamily="49" charset="0"/>
              </a:rPr>
              <a:t>};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Interaction with std::tuple and std::forward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std::tuple can store heterogeneous data types.</a:t>
            </a:r>
          </a:p>
          <a:p>
            <a:r>
              <a:t>- std::forward is used for perfect forwarding in variadic templates.</a:t>
            </a:r>
          </a:p>
          <a:p>
            <a:r>
              <a:t>- Enables efficient and type-safe argument passing.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Variadic templates enhance flexibility and reusability.</a:t>
            </a:r>
          </a:p>
          <a:p>
            <a:r>
              <a:t>- Useful in many advanced C++ scenarios.</a:t>
            </a:r>
          </a:p>
          <a:p>
            <a:r>
              <a:t>- Fold expressions simplify syntax in C++17 and beyond.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338</Words>
  <Application>Microsoft Office PowerPoint</Application>
  <PresentationFormat>On-screen Show (4:3)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monospaced for SAP</vt:lpstr>
      <vt:lpstr>Calibri</vt:lpstr>
      <vt:lpstr>Office Theme</vt:lpstr>
      <vt:lpstr>C++ Variadic Templates</vt:lpstr>
      <vt:lpstr>Introduction</vt:lpstr>
      <vt:lpstr>Basic Syntax</vt:lpstr>
      <vt:lpstr>How It Works</vt:lpstr>
      <vt:lpstr>Use Cases</vt:lpstr>
      <vt:lpstr>Advanced Example: Sum of Arguments</vt:lpstr>
      <vt:lpstr>Fold Expressions (C++17)</vt:lpstr>
      <vt:lpstr>Variadic Templates in Classes</vt:lpstr>
      <vt:lpstr>Interaction with std::tuple and std::forward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Meena, Ramjilal (DI SW EDA DDCP C2GDS CAT 3 FE)</cp:lastModifiedBy>
  <cp:revision>5</cp:revision>
  <dcterms:created xsi:type="dcterms:W3CDTF">2013-01-27T09:14:16Z</dcterms:created>
  <dcterms:modified xsi:type="dcterms:W3CDTF">2025-08-23T13:49:35Z</dcterms:modified>
  <cp:category/>
</cp:coreProperties>
</file>