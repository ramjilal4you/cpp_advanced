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red rectangular sign with white text&#10;&#10;AI-generated content may be incorrect.">
            <a:extLst>
              <a:ext uri="{FF2B5EF4-FFF2-40B4-BE49-F238E27FC236}">
                <a16:creationId xmlns:a16="http://schemas.microsoft.com/office/drawing/2014/main" id="{3CE58C10-5D4A-4920-9107-1307380F2A2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3397189" y="2990827"/>
            <a:ext cx="2349621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6762"/>
            <a:ext cx="7772400" cy="1470025"/>
          </a:xfrm>
        </p:spPr>
        <p:txBody>
          <a:bodyPr/>
          <a:lstStyle/>
          <a:p>
            <a:r>
              <a:rPr b="1" u="sng" dirty="0"/>
              <a:t>Left Shift</a:t>
            </a:r>
            <a:r>
              <a:rPr b="1" dirty="0"/>
              <a:t> vs </a:t>
            </a:r>
            <a:r>
              <a:rPr b="1" u="sng" dirty="0"/>
              <a:t>Insertion</a:t>
            </a:r>
            <a:r>
              <a:rPr b="1" dirty="0"/>
              <a:t> Operator</a:t>
            </a:r>
            <a:br>
              <a:rPr lang="en-IN" b="1" dirty="0"/>
            </a:br>
            <a:r>
              <a:rPr lang="en-IN" b="1" dirty="0"/>
              <a:t>in C++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236787"/>
            <a:ext cx="7772400" cy="762445"/>
          </a:xfrm>
        </p:spPr>
        <p:txBody>
          <a:bodyPr/>
          <a:lstStyle/>
          <a:p>
            <a:r>
              <a:rPr dirty="0"/>
              <a:t>Understanding &lt;&lt; in Different Contexts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 of &lt;&lt; Operator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&lt;&lt; symbol in C++ serves two distinct purposes:</a:t>
            </a:r>
          </a:p>
          <a:p>
            <a:pPr marL="400050" lvl="1" indent="0">
              <a:buNone/>
            </a:pPr>
            <a:r>
              <a:rPr dirty="0"/>
              <a:t>1. Bitwise Left Shift Operator</a:t>
            </a:r>
          </a:p>
          <a:p>
            <a:pPr marL="400050" lvl="1" indent="0">
              <a:buNone/>
            </a:pPr>
            <a:r>
              <a:rPr dirty="0"/>
              <a:t>2. Stream Insertion Operator (used with std::</a:t>
            </a:r>
            <a:r>
              <a:rPr dirty="0" err="1"/>
              <a:t>cout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Bitwise Left Shift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Used to shift bits to the left.</a:t>
            </a:r>
          </a:p>
          <a:p>
            <a:r>
              <a:rPr dirty="0"/>
              <a:t>Syntax: result = value &lt;&lt; </a:t>
            </a:r>
            <a:r>
              <a:rPr dirty="0" err="1"/>
              <a:t>shift_amount</a:t>
            </a:r>
            <a:r>
              <a:rPr dirty="0"/>
              <a:t>;</a:t>
            </a:r>
          </a:p>
          <a:p>
            <a:endParaRPr dirty="0"/>
          </a:p>
          <a:p>
            <a:r>
              <a:rPr dirty="0"/>
              <a:t>Return Type: Typically the same type (e.g., int or custom class)</a:t>
            </a:r>
          </a:p>
          <a:p>
            <a:r>
              <a:rPr dirty="0"/>
              <a:t>Parameters: shift amount (int)</a:t>
            </a:r>
          </a:p>
          <a:p>
            <a:r>
              <a:rPr dirty="0"/>
              <a:t>Can be overloaded as member or non-member function.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400050" lvl="1" indent="0">
              <a:buNone/>
            </a:pPr>
            <a:r>
              <a:rPr i="1" dirty="0"/>
              <a:t>class </a:t>
            </a:r>
            <a:r>
              <a:rPr i="1" dirty="0" err="1"/>
              <a:t>MyInt</a:t>
            </a:r>
            <a:r>
              <a:rPr i="1" dirty="0"/>
              <a:t> {</a:t>
            </a:r>
          </a:p>
          <a:p>
            <a:pPr marL="400050" lvl="1" indent="0">
              <a:buNone/>
            </a:pPr>
            <a:r>
              <a:rPr i="1" dirty="0"/>
              <a:t>public:</a:t>
            </a:r>
          </a:p>
          <a:p>
            <a:pPr marL="400050" lvl="1" indent="0">
              <a:buNone/>
            </a:pPr>
            <a:r>
              <a:rPr i="1" dirty="0"/>
              <a:t>    </a:t>
            </a:r>
            <a:r>
              <a:rPr i="1" dirty="0" err="1"/>
              <a:t>MyInt</a:t>
            </a:r>
            <a:r>
              <a:rPr i="1" dirty="0"/>
              <a:t> operator&lt;&lt;(int shift);</a:t>
            </a:r>
            <a:r>
              <a:rPr lang="en-IN" i="1" dirty="0"/>
              <a:t>		//member</a:t>
            </a:r>
            <a:endParaRPr i="1" dirty="0"/>
          </a:p>
          <a:p>
            <a:pPr marL="400050" lvl="1" indent="0">
              <a:buNone/>
            </a:pPr>
            <a:r>
              <a:rPr i="1" dirty="0"/>
              <a:t>};</a:t>
            </a:r>
            <a:endParaRPr lang="en-IN" i="1" dirty="0"/>
          </a:p>
          <a:p>
            <a:pPr marL="400050" lvl="1" indent="0">
              <a:buNone/>
            </a:pPr>
            <a:endParaRPr lang="en-IN" i="1" dirty="0"/>
          </a:p>
          <a:p>
            <a:pPr marL="400050" lvl="1" indent="0">
              <a:buNone/>
            </a:pPr>
            <a:r>
              <a:rPr lang="en-IN" i="1" dirty="0" err="1"/>
              <a:t>MyInt</a:t>
            </a:r>
            <a:r>
              <a:rPr lang="en-IN" i="1" dirty="0"/>
              <a:t> operator&lt;&lt;(</a:t>
            </a:r>
            <a:r>
              <a:rPr lang="en-IN" i="1" dirty="0" err="1"/>
              <a:t>MyInt</a:t>
            </a:r>
            <a:r>
              <a:rPr lang="en-IN" i="1" dirty="0"/>
              <a:t> </a:t>
            </a:r>
            <a:r>
              <a:rPr lang="en-IN" i="1" dirty="0" err="1"/>
              <a:t>obj</a:t>
            </a:r>
            <a:r>
              <a:rPr lang="en-IN" i="1" dirty="0"/>
              <a:t>, int shift);	//non-member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Insertion Operator (cout)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Used to output data to streams like std::</a:t>
            </a:r>
            <a:r>
              <a:rPr sz="2400" dirty="0" err="1"/>
              <a:t>cout</a:t>
            </a:r>
            <a:r>
              <a:rPr sz="2400" dirty="0"/>
              <a:t>.</a:t>
            </a:r>
          </a:p>
          <a:p>
            <a:r>
              <a:rPr sz="2400" dirty="0"/>
              <a:t>Syntax: std::</a:t>
            </a:r>
            <a:r>
              <a:rPr sz="2400" dirty="0" err="1"/>
              <a:t>cout</a:t>
            </a:r>
            <a:r>
              <a:rPr sz="2400" dirty="0"/>
              <a:t> &lt;&lt; value;</a:t>
            </a:r>
          </a:p>
          <a:p>
            <a:r>
              <a:rPr sz="2400" dirty="0"/>
              <a:t>Return Type: std::</a:t>
            </a:r>
            <a:r>
              <a:rPr sz="2400" dirty="0" err="1"/>
              <a:t>ostream</a:t>
            </a:r>
            <a:r>
              <a:rPr sz="2400" dirty="0"/>
              <a:t>&amp;</a:t>
            </a:r>
          </a:p>
          <a:p>
            <a:r>
              <a:rPr sz="2400" dirty="0"/>
              <a:t>Parameters: std::</a:t>
            </a:r>
            <a:r>
              <a:rPr sz="2400" dirty="0" err="1"/>
              <a:t>ostream</a:t>
            </a:r>
            <a:r>
              <a:rPr sz="2400" dirty="0"/>
              <a:t>&amp; </a:t>
            </a:r>
            <a:r>
              <a:rPr sz="2400" dirty="0" err="1"/>
              <a:t>os</a:t>
            </a:r>
            <a:r>
              <a:rPr sz="2400" dirty="0"/>
              <a:t>, const </a:t>
            </a:r>
            <a:r>
              <a:rPr sz="2400" dirty="0" err="1"/>
              <a:t>MyClass</a:t>
            </a:r>
            <a:r>
              <a:rPr sz="2400" dirty="0"/>
              <a:t>&amp; obj</a:t>
            </a:r>
          </a:p>
          <a:p>
            <a:r>
              <a:rPr sz="2400" dirty="0"/>
              <a:t>Must be a non-member function (often a friend).</a:t>
            </a:r>
          </a:p>
          <a:p>
            <a:endParaRPr sz="2400" dirty="0"/>
          </a:p>
          <a:p>
            <a:pPr marL="0" indent="0">
              <a:buNone/>
            </a:pPr>
            <a:r>
              <a:rPr sz="2400" dirty="0"/>
              <a:t>Example:</a:t>
            </a:r>
          </a:p>
          <a:p>
            <a:pPr marL="400050" lvl="1" indent="0">
              <a:buNone/>
            </a:pPr>
            <a:r>
              <a:rPr sz="2000" dirty="0"/>
              <a:t>std::ostream&amp; operator&lt;&lt;(std::ostream&amp; </a:t>
            </a:r>
            <a:r>
              <a:rPr sz="2000" dirty="0" err="1"/>
              <a:t>os</a:t>
            </a:r>
            <a:r>
              <a:rPr sz="2000" dirty="0"/>
              <a:t>, const </a:t>
            </a:r>
            <a:r>
              <a:rPr sz="2000" dirty="0" err="1"/>
              <a:t>MyClass</a:t>
            </a:r>
            <a:r>
              <a:rPr sz="2000" dirty="0"/>
              <a:t>&amp; obj);</a:t>
            </a: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Comparison: Bitwise vs Insertion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Bitwise &lt;&lt;:</a:t>
            </a:r>
          </a:p>
          <a:p>
            <a:pPr marL="400050" lvl="1" indent="0">
              <a:buNone/>
            </a:pPr>
            <a:r>
              <a:rPr dirty="0"/>
              <a:t>- Used for shifting bits</a:t>
            </a:r>
          </a:p>
          <a:p>
            <a:pPr marL="400050" lvl="1" indent="0">
              <a:buNone/>
            </a:pPr>
            <a:r>
              <a:rPr dirty="0"/>
              <a:t>- Can be member or non-member</a:t>
            </a:r>
          </a:p>
          <a:p>
            <a:pPr marL="400050" lvl="1" indent="0">
              <a:buNone/>
            </a:pPr>
            <a:r>
              <a:rPr dirty="0"/>
              <a:t>- Returns shifted value</a:t>
            </a:r>
          </a:p>
          <a:p>
            <a:endParaRPr dirty="0"/>
          </a:p>
          <a:p>
            <a:r>
              <a:rPr dirty="0"/>
              <a:t>Insertion &lt;&lt;:</a:t>
            </a:r>
          </a:p>
          <a:p>
            <a:pPr marL="400050" lvl="1" indent="0">
              <a:buNone/>
            </a:pPr>
            <a:r>
              <a:rPr dirty="0"/>
              <a:t>- Used for output</a:t>
            </a:r>
          </a:p>
          <a:p>
            <a:pPr marL="400050" lvl="1" indent="0">
              <a:buNone/>
            </a:pPr>
            <a:r>
              <a:rPr dirty="0"/>
              <a:t>- Must be non-member</a:t>
            </a:r>
          </a:p>
          <a:p>
            <a:pPr marL="400050" lvl="1" indent="0">
              <a:buNone/>
            </a:pPr>
            <a:r>
              <a:rPr dirty="0"/>
              <a:t>- Returns std::</a:t>
            </a:r>
            <a:r>
              <a:rPr dirty="0" err="1"/>
              <a:t>ostream</a:t>
            </a:r>
            <a:r>
              <a:rPr dirty="0"/>
              <a:t>&amp; for chaining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std::ostream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std::</a:t>
            </a:r>
            <a:r>
              <a:rPr sz="2800" dirty="0" err="1"/>
              <a:t>ostream</a:t>
            </a:r>
            <a:r>
              <a:rPr sz="2800" dirty="0"/>
              <a:t> is the base class for output streams.</a:t>
            </a:r>
          </a:p>
          <a:p>
            <a:r>
              <a:rPr sz="2800" dirty="0"/>
              <a:t>Common members:</a:t>
            </a:r>
          </a:p>
          <a:p>
            <a:pPr marL="400050" lvl="1" indent="0">
              <a:buNone/>
            </a:pPr>
            <a:r>
              <a:rPr sz="2400" dirty="0"/>
              <a:t>- operator&lt;&lt; for various types</a:t>
            </a:r>
          </a:p>
          <a:p>
            <a:pPr marL="400050" lvl="1" indent="0">
              <a:buNone/>
            </a:pPr>
            <a:r>
              <a:rPr sz="2400" dirty="0"/>
              <a:t>- flush(), put(), write()</a:t>
            </a:r>
            <a:r>
              <a:rPr lang="en-IN" sz="2400" dirty="0"/>
              <a:t>, endl()</a:t>
            </a:r>
            <a:endParaRPr sz="2400" dirty="0"/>
          </a:p>
          <a:p>
            <a:pPr marL="400050" lvl="1" indent="0">
              <a:buNone/>
            </a:pPr>
            <a:r>
              <a:rPr sz="2400" dirty="0"/>
              <a:t>- formatting: </a:t>
            </a:r>
            <a:r>
              <a:rPr sz="2400" dirty="0" err="1"/>
              <a:t>setf</a:t>
            </a:r>
            <a:r>
              <a:rPr sz="2400" dirty="0"/>
              <a:t>(), </a:t>
            </a:r>
            <a:r>
              <a:rPr lang="en-IN" sz="2400" dirty="0"/>
              <a:t>setw(), </a:t>
            </a:r>
            <a:r>
              <a:rPr sz="2400" dirty="0"/>
              <a:t>precision(), width()</a:t>
            </a:r>
          </a:p>
          <a:p>
            <a:pPr marL="400050" lvl="1" indent="0">
              <a:buNone/>
            </a:pPr>
            <a:r>
              <a:rPr sz="2400" dirty="0"/>
              <a:t>- state checking: good(), fail(), bad()</a:t>
            </a:r>
          </a:p>
          <a:p>
            <a:endParaRPr dirty="0"/>
          </a:p>
          <a:p>
            <a:r>
              <a:rPr sz="2800" dirty="0"/>
              <a:t>Used with std::</a:t>
            </a:r>
            <a:r>
              <a:rPr sz="2800" dirty="0" err="1"/>
              <a:t>cout</a:t>
            </a:r>
            <a:r>
              <a:rPr sz="2800" dirty="0"/>
              <a:t> for console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Each &lt;&lt;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Bitwise &lt;&lt;:</a:t>
            </a:r>
          </a:p>
          <a:p>
            <a:pPr marL="400050" lvl="1" indent="0">
              <a:buNone/>
            </a:pPr>
            <a:r>
              <a:rPr dirty="0"/>
              <a:t>- When performing bit manipulation</a:t>
            </a:r>
          </a:p>
          <a:p>
            <a:pPr marL="400050" lvl="1" indent="0">
              <a:buNone/>
            </a:pPr>
            <a:r>
              <a:rPr dirty="0"/>
              <a:t>- Overload for custom numeric-like classes</a:t>
            </a:r>
          </a:p>
          <a:p>
            <a:endParaRPr dirty="0"/>
          </a:p>
          <a:p>
            <a:r>
              <a:rPr dirty="0"/>
              <a:t>Use Insertion &lt;&lt;:</a:t>
            </a:r>
          </a:p>
          <a:p>
            <a:pPr marL="400050" lvl="1" indent="0">
              <a:buNone/>
            </a:pPr>
            <a:r>
              <a:rPr dirty="0"/>
              <a:t>- When printing objects to output streams</a:t>
            </a:r>
          </a:p>
          <a:p>
            <a:pPr marL="400050" lvl="1" indent="0">
              <a:buNone/>
            </a:pPr>
            <a:r>
              <a:rPr dirty="0"/>
              <a:t>- Overload to customize object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The &lt;&lt; operator in C++ is context-sensitive.</a:t>
            </a:r>
          </a:p>
          <a:p>
            <a:r>
              <a:rPr sz="2800" dirty="0"/>
              <a:t>Understanding its dual role helps in writing clear and effective code.</a:t>
            </a:r>
          </a:p>
          <a:p>
            <a:r>
              <a:rPr sz="2800" dirty="0"/>
              <a:t>Use appropriate overloads based on the intended functionality.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383</Words>
  <Application>Microsoft Office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Left Shift vs Insertion Operator in C++</vt:lpstr>
      <vt:lpstr>Overview of &lt;&lt; Operator in C++</vt:lpstr>
      <vt:lpstr>Bitwise Left Shift Operator</vt:lpstr>
      <vt:lpstr>Stream Insertion Operator (cout)</vt:lpstr>
      <vt:lpstr>Comparison: Bitwise vs Insertion Operator</vt:lpstr>
      <vt:lpstr>std::ostream in C++</vt:lpstr>
      <vt:lpstr>When to Use Each &lt;&lt; Operator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Meena, Ramjilal (DI SW EDA DDCP C2GDS CAT 3 FE)</cp:lastModifiedBy>
  <cp:revision>10</cp:revision>
  <dcterms:created xsi:type="dcterms:W3CDTF">2013-01-27T09:14:16Z</dcterms:created>
  <dcterms:modified xsi:type="dcterms:W3CDTF">2025-08-28T01:11:27Z</dcterms:modified>
  <cp:category/>
</cp:coreProperties>
</file>