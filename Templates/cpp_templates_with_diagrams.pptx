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56" r:id="rId3"/>
    <p:sldId id="267" r:id="rId4"/>
    <p:sldId id="276" r:id="rId5"/>
    <p:sldId id="257" r:id="rId6"/>
    <p:sldId id="258" r:id="rId7"/>
    <p:sldId id="275" r:id="rId8"/>
    <p:sldId id="268" r:id="rId9"/>
    <p:sldId id="259" r:id="rId10"/>
    <p:sldId id="277" r:id="rId11"/>
    <p:sldId id="278" r:id="rId12"/>
    <p:sldId id="262" r:id="rId13"/>
    <p:sldId id="27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87" autoAdjust="0"/>
  </p:normalViewPr>
  <p:slideViewPr>
    <p:cSldViewPr snapToGrid="0" snapToObjects="1">
      <p:cViewPr varScale="1">
        <p:scale>
          <a:sx n="69" d="100"/>
          <a:sy n="69" d="100"/>
        </p:scale>
        <p:origin x="12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DED6C-E0FD-4738-875B-E7235D4F4E14}" type="datetimeFigureOut">
              <a:rPr lang="en-IN" smtClean="0"/>
              <a:t>09-08-2025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53B9F-9D8D-4783-8DFE-6A40986B6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2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53B9F-9D8D-4783-8DFE-6A40986B63B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735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53B9F-9D8D-4783-8DFE-6A40986B63B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21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8713F-4A32-C1E1-069A-9F5B36E4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33124-CCE3-89A0-8E99-869EF819D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FA37F-66BA-C730-FAB4-3F6BD922B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7B4EF-C871-C13F-4BEA-60618FDF4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53B9F-9D8D-4783-8DFE-6A40986B63B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667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9B2D-03FE-E88D-A77D-C9BCFBFC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70F06-E045-297E-27B4-215068FE2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2169E-494C-922C-1861-57C464782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//g++ -std=c++17 -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fdump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-tree-original your_file.cpp     --&gt; dump compiled code with comments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5D1C5-0E12-446F-8DC8-47DCF0B41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53B9F-9D8D-4783-8DFE-6A40986B63B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46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red rectangular sign with white text&#10;&#10;AI-generated content may be incorrect.">
            <a:extLst>
              <a:ext uri="{FF2B5EF4-FFF2-40B4-BE49-F238E27FC236}">
                <a16:creationId xmlns:a16="http://schemas.microsoft.com/office/drawing/2014/main" id="{707FFC8E-11DB-473A-AB6B-007CF17422B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3397189" y="2990827"/>
            <a:ext cx="2349621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templates.html" TargetMode="External"/><Relationship Id="rId7" Type="http://schemas.openxmlformats.org/officeDocument/2006/relationships/image" Target="../media/image6.svg"/><Relationship Id="rId2" Type="http://schemas.openxmlformats.org/officeDocument/2006/relationships/hyperlink" Target="https://www.geeksforgeeks.org/cpp/templates-cpp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IN" b="1" dirty="0"/>
              <a:t>C++ Templates</a:t>
            </a:r>
          </a:p>
        </p:txBody>
      </p:sp>
      <p:pic>
        <p:nvPicPr>
          <p:cNvPr id="4" name="Graphic 3" descr="Programmer male outline">
            <a:extLst>
              <a:ext uri="{FF2B5EF4-FFF2-40B4-BE49-F238E27FC236}">
                <a16:creationId xmlns:a16="http://schemas.microsoft.com/office/drawing/2014/main" id="{ED63E572-8BCE-75FB-194A-8A23B4422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843881"/>
            <a:ext cx="4038600" cy="40386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33E8910-570A-7EA3-8621-C595FE9F4234}"/>
              </a:ext>
            </a:extLst>
          </p:cNvPr>
          <p:cNvSpPr txBox="1">
            <a:spLocks/>
          </p:cNvSpPr>
          <p:nvPr/>
        </p:nvSpPr>
        <p:spPr>
          <a:xfrm>
            <a:off x="457200" y="1417638"/>
            <a:ext cx="8229600" cy="75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Understanding All Aspects and Scenarios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>
              <a:spcBef>
                <a:spcPts val="975"/>
              </a:spcBef>
              <a:spcAft>
                <a:spcPts val="225"/>
              </a:spcAft>
              <a:buNone/>
            </a:pPr>
            <a:r>
              <a:rPr lang="en-IN" b="1" i="0" dirty="0">
                <a:effectLst/>
              </a:rPr>
              <a:t>📘 What's Included: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</a:rPr>
              <a:t>Introduction</a:t>
            </a:r>
          </a:p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</a:rPr>
              <a:t>Function, </a:t>
            </a:r>
            <a:r>
              <a:rPr lang="en-IN" sz="2400" dirty="0"/>
              <a:t>C</a:t>
            </a:r>
            <a:r>
              <a:rPr lang="en-IN" sz="2400" b="0" i="0" dirty="0">
                <a:effectLst/>
              </a:rPr>
              <a:t>lass and </a:t>
            </a:r>
            <a:r>
              <a:rPr lang="en-IN" sz="2400" dirty="0"/>
              <a:t>Variable </a:t>
            </a:r>
            <a:r>
              <a:rPr lang="en-IN" sz="2400" b="0" i="0" dirty="0">
                <a:effectLst/>
              </a:rPr>
              <a:t>templates</a:t>
            </a:r>
          </a:p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</a:rPr>
              <a:t>Template parameters (type, non-type, default)</a:t>
            </a:r>
          </a:p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</a:rPr>
              <a:t>Template specialization</a:t>
            </a:r>
          </a:p>
          <a:p>
            <a:pPr lvl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Full, partial template specialization</a:t>
            </a:r>
          </a:p>
          <a:p>
            <a: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</a:rPr>
              <a:t>Use cases and best practices</a:t>
            </a:r>
          </a:p>
        </p:txBody>
      </p:sp>
      <p:pic>
        <p:nvPicPr>
          <p:cNvPr id="4" name="Graphic 3" descr="Programmer male outline">
            <a:extLst>
              <a:ext uri="{FF2B5EF4-FFF2-40B4-BE49-F238E27FC236}">
                <a16:creationId xmlns:a16="http://schemas.microsoft.com/office/drawing/2014/main" id="{147CD213-1CD7-C1A2-1B5B-904C95561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7146" y="1600200"/>
            <a:ext cx="3239655" cy="3239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44D8-4572-FE54-7D75-4F4D7508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4A65-2277-CF49-5B5E-57F34114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dirty="0"/>
              <a:t>Introduction to C++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0D154-A50D-3AF0-1E61-45F1D340E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Templates allow writing generic </a:t>
            </a:r>
            <a:r>
              <a:rPr lang="en-IN" dirty="0"/>
              <a:t>and</a:t>
            </a:r>
            <a:r>
              <a:rPr dirty="0"/>
              <a:t> reusable code.</a:t>
            </a:r>
          </a:p>
          <a:p>
            <a:r>
              <a:rPr lang="en-IN" dirty="0"/>
              <a:t>E</a:t>
            </a:r>
            <a:r>
              <a:rPr dirty="0" err="1"/>
              <a:t>nable</a:t>
            </a:r>
            <a:r>
              <a:rPr dirty="0"/>
              <a:t> functions</a:t>
            </a:r>
            <a:r>
              <a:rPr lang="en-IN" dirty="0"/>
              <a:t>, </a:t>
            </a:r>
            <a:r>
              <a:rPr dirty="0"/>
              <a:t>classes </a:t>
            </a:r>
            <a:r>
              <a:rPr lang="en-IN" dirty="0"/>
              <a:t>and variables </a:t>
            </a:r>
            <a:r>
              <a:rPr dirty="0"/>
              <a:t>to operate with generic types.</a:t>
            </a:r>
            <a:endParaRPr lang="en-IN" dirty="0"/>
          </a:p>
          <a:p>
            <a:endParaRPr lang="en-IN" dirty="0"/>
          </a:p>
          <a:p>
            <a:r>
              <a:rPr lang="en-IN" dirty="0"/>
              <a:t>Define Templates</a:t>
            </a:r>
            <a:r>
              <a:rPr dirty="0"/>
              <a:t>: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template &lt;typename A, typename B, ...&gt;</a:t>
            </a:r>
          </a:p>
          <a:p>
            <a:pPr marL="0" indent="0">
              <a:buNone/>
            </a:pPr>
            <a:r>
              <a:rPr lang="en-IN" dirty="0"/>
              <a:t>	entity_definition</a:t>
            </a:r>
          </a:p>
          <a:p>
            <a:endParaRPr lang="en-IN" dirty="0"/>
          </a:p>
          <a:p>
            <a:r>
              <a:rPr lang="en-IN" dirty="0"/>
              <a:t>Instantiate Templates: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entity_name</a:t>
            </a:r>
            <a:r>
              <a:rPr lang="en-IN" dirty="0"/>
              <a:t>&lt;type1, type2, ...&gt;</a:t>
            </a:r>
            <a:endParaRPr dirty="0"/>
          </a:p>
        </p:txBody>
      </p:sp>
      <p:pic>
        <p:nvPicPr>
          <p:cNvPr id="4" name="Graphic 3" descr="Programmer male outline">
            <a:extLst>
              <a:ext uri="{FF2B5EF4-FFF2-40B4-BE49-F238E27FC236}">
                <a16:creationId xmlns:a16="http://schemas.microsoft.com/office/drawing/2014/main" id="{0B747E61-C2F0-419C-DA54-75EE79577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0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F62D-10B9-D5D2-C7F4-8A527C453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7E4D-967D-23D7-7CDA-43C84270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Working of Templates</a:t>
            </a:r>
            <a:endParaRPr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45193624-A7D3-01D3-3EC1-BEBADAC5F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16163"/>
            <a:ext cx="6471032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BE3913-5581-9631-B608-FAC01E532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Expanded at compiler time</a:t>
            </a:r>
            <a:endParaRPr dirty="0"/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2D89D06C-057B-F9E6-0CD0-3BDBA0527C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1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dirty="0"/>
              <a:t>Function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to define a generic function.</a:t>
            </a:r>
          </a:p>
          <a:p>
            <a:endParaRPr lang="en-IN"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template&lt;</a:t>
            </a:r>
            <a:r>
              <a:rPr dirty="0" err="1"/>
              <a:t>typename</a:t>
            </a:r>
            <a:r>
              <a:rPr dirty="0"/>
              <a:t> T&gt;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T add(T a, T b) {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dirty="0"/>
              <a:t>return a + b;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}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921475AE-D9C9-43F4-5E90-D2F0614F3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dirty="0"/>
              <a:t>Class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Used to define a generic class.</a:t>
            </a:r>
            <a:endParaRPr lang="en-IN" dirty="0"/>
          </a:p>
          <a:p>
            <a:r>
              <a:rPr lang="en-IN" dirty="0"/>
              <a:t>useful for classes like LinkedList, </a:t>
            </a:r>
            <a:r>
              <a:rPr lang="en-IN" dirty="0" err="1"/>
              <a:t>BinaryTree</a:t>
            </a:r>
            <a:r>
              <a:rPr lang="en-IN" dirty="0"/>
              <a:t>, Stack, Queue, Array, etc.</a:t>
            </a:r>
            <a:endParaRPr dirty="0"/>
          </a:p>
          <a:p>
            <a:endParaRPr lang="en-IN"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template&lt;typename T&gt;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class Box {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dirty="0"/>
              <a:t>T value;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};</a:t>
            </a:r>
          </a:p>
        </p:txBody>
      </p:sp>
      <p:pic>
        <p:nvPicPr>
          <p:cNvPr id="4" name="Graphic 3" descr="Programmer male with solid fill">
            <a:extLst>
              <a:ext uri="{FF2B5EF4-FFF2-40B4-BE49-F238E27FC236}">
                <a16:creationId xmlns:a16="http://schemas.microsoft.com/office/drawing/2014/main" id="{717B6E49-8A59-D5F0-E092-2AE5EBC6B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366B4-9206-BDC6-1A19-9C7CFD4B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063B-D596-A31C-9854-376E56C5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Variable</a:t>
            </a:r>
            <a:r>
              <a:rPr dirty="0"/>
              <a:t> Templates</a:t>
            </a:r>
            <a:r>
              <a:rPr lang="en-IN" dirty="0"/>
              <a:t> (C++14)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4D177-0944-E923-BAE7-4AF4691B6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Used to define a generic </a:t>
            </a:r>
            <a:r>
              <a:rPr lang="en-IN" dirty="0"/>
              <a:t>variable</a:t>
            </a:r>
            <a:r>
              <a:rPr dirty="0"/>
              <a:t>.</a:t>
            </a:r>
            <a:endParaRPr lang="en-IN" dirty="0"/>
          </a:p>
          <a:p>
            <a:r>
              <a:rPr lang="en-IN" dirty="0"/>
              <a:t>Variable that can work with any type specified when the variable is used</a:t>
            </a:r>
            <a:endParaRPr dirty="0"/>
          </a:p>
          <a:p>
            <a:endParaRPr lang="en-IN" dirty="0"/>
          </a:p>
          <a:p>
            <a:endParaRPr lang="en-IN"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fr-FR" dirty="0" err="1"/>
              <a:t>template</a:t>
            </a:r>
            <a:r>
              <a:rPr lang="fr-FR" dirty="0"/>
              <a:t> &lt;typename T&gt; </a:t>
            </a:r>
          </a:p>
          <a:p>
            <a:pPr marL="0" indent="0">
              <a:buNone/>
            </a:pPr>
            <a:r>
              <a:rPr lang="fr-FR" dirty="0"/>
              <a:t>	T pi = T(3.14159);</a:t>
            </a:r>
            <a:endParaRPr dirty="0"/>
          </a:p>
        </p:txBody>
      </p:sp>
      <p:pic>
        <p:nvPicPr>
          <p:cNvPr id="4" name="Graphic 3" descr="Programmer male with solid fill">
            <a:extLst>
              <a:ext uri="{FF2B5EF4-FFF2-40B4-BE49-F238E27FC236}">
                <a16:creationId xmlns:a16="http://schemas.microsoft.com/office/drawing/2014/main" id="{447465A6-45BD-D2B7-AB85-8DCEB77D6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2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64422-6429-1E8F-D1FC-2DF5D0D7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BD13-D00D-0429-DBD8-50DC4451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dirty="0"/>
              <a:t>Template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D256-D770-F879-F7C6-DD133121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Allows customizing template behavior for specific types.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Types :</a:t>
            </a:r>
          </a:p>
          <a:p>
            <a:pPr lvl="1"/>
            <a:r>
              <a:rPr dirty="0"/>
              <a:t>Full Specialization</a:t>
            </a:r>
          </a:p>
          <a:p>
            <a:pPr lvl="1"/>
            <a:r>
              <a:rPr dirty="0"/>
              <a:t>Partial Specialization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932EED-63C0-C99F-7719-B835AE07AB29}"/>
              </a:ext>
            </a:extLst>
          </p:cNvPr>
          <p:cNvSpPr/>
          <p:nvPr/>
        </p:nvSpPr>
        <p:spPr>
          <a:xfrm>
            <a:off x="1863578" y="3037464"/>
            <a:ext cx="5416843" cy="783072"/>
          </a:xfrm>
          <a:prstGeom prst="rect">
            <a:avLst/>
          </a:prstGeom>
          <a:solidFill>
            <a:srgbClr val="C8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1600" b="1" dirty="0"/>
              <a:t>Generic Template -&gt; Specialized Template -&gt; Custom Behavior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27955FB7-B264-84A8-ABB0-543107F83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dirty="0"/>
              <a:t>Template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Default</a:t>
            </a:r>
            <a:r>
              <a:rPr dirty="0"/>
              <a:t> parameters:</a:t>
            </a:r>
            <a:endParaRPr lang="en-IN" dirty="0"/>
          </a:p>
          <a:p>
            <a:pPr marL="400050" lvl="1" indent="0">
              <a:buNone/>
            </a:pPr>
            <a:r>
              <a:rPr lang="en-IN" dirty="0"/>
              <a:t>template &lt;class T1, class T2 = double&gt;</a:t>
            </a:r>
          </a:p>
          <a:p>
            <a:pPr marL="400050" lvl="1" indent="0">
              <a:buNone/>
            </a:pPr>
            <a:r>
              <a:rPr lang="en-IN" dirty="0"/>
              <a:t>entity_definition</a:t>
            </a:r>
          </a:p>
          <a:p>
            <a:endParaRPr lang="en-IN" dirty="0"/>
          </a:p>
          <a:p>
            <a:r>
              <a:rPr lang="en-IN" dirty="0"/>
              <a:t>Type &amp; </a:t>
            </a:r>
            <a:r>
              <a:rPr dirty="0"/>
              <a:t>Non-type parameters:</a:t>
            </a:r>
            <a:endParaRPr lang="en-IN" dirty="0"/>
          </a:p>
          <a:p>
            <a:pPr marL="400050" lvl="1" indent="0">
              <a:buNone/>
            </a:pPr>
            <a:r>
              <a:rPr lang="en-IN" dirty="0"/>
              <a:t>template &lt;class T, int N&gt;</a:t>
            </a:r>
          </a:p>
          <a:p>
            <a:pPr marL="400050" lvl="1" indent="0">
              <a:buNone/>
            </a:pPr>
            <a:r>
              <a:rPr lang="en-IN" dirty="0"/>
              <a:t>entity_definition</a:t>
            </a:r>
          </a:p>
          <a:p>
            <a:pPr marL="400050" lvl="1" indent="0">
              <a:buNone/>
            </a:pPr>
            <a:endParaRPr lang="en-IN" dirty="0"/>
          </a:p>
          <a:p>
            <a:pPr marL="400050" lvl="1" indent="0">
              <a:buNone/>
            </a:pPr>
            <a:r>
              <a:rPr lang="en-IN" dirty="0"/>
              <a:t>- non-type parameters must be const</a:t>
            </a:r>
          </a:p>
        </p:txBody>
      </p:sp>
      <p:pic>
        <p:nvPicPr>
          <p:cNvPr id="4" name="Graphic 3" descr="Programmer male with solid fill">
            <a:extLst>
              <a:ext uri="{FF2B5EF4-FFF2-40B4-BE49-F238E27FC236}">
                <a16:creationId xmlns:a16="http://schemas.microsoft.com/office/drawing/2014/main" id="{1DB53033-EB81-7281-1380-B8EFD2ED2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58082-514F-F1FD-4CB3-D8C1FBFF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66A3-A920-13E1-52B9-23D3A564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Template Argument Deduction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761EE-AEA2-C6B7-43E5-21AC3982E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/>
              <a:t>Automatically deduces the data type of the argument passed to the templates.</a:t>
            </a:r>
          </a:p>
          <a:p>
            <a:pPr lvl="1"/>
            <a:r>
              <a:rPr lang="en-IN" sz="3200"/>
              <a:t>Function Template Arguments Deduction</a:t>
            </a:r>
          </a:p>
          <a:p>
            <a:pPr lvl="1"/>
            <a:r>
              <a:rPr lang="en-IN" sz="3200"/>
              <a:t>Class Template Arguments Deduction (C++17 Onwards)</a:t>
            </a:r>
          </a:p>
          <a:p>
            <a:pPr lvl="1"/>
            <a:endParaRPr lang="en-IN"/>
          </a:p>
          <a:p>
            <a:endParaRPr lang="en-IN"/>
          </a:p>
          <a:p>
            <a:r>
              <a:rPr lang="en-IN"/>
              <a:t>Example:</a:t>
            </a:r>
          </a:p>
          <a:p>
            <a:pPr marL="457200" lvl="1" indent="0">
              <a:buNone/>
            </a:pPr>
            <a:r>
              <a:rPr lang="en-IN"/>
              <a:t>template&lt;typename T&gt;</a:t>
            </a:r>
          </a:p>
          <a:p>
            <a:pPr marL="400050" lvl="1" indent="0">
              <a:buNone/>
            </a:pPr>
            <a:r>
              <a:rPr lang="en-IN"/>
              <a:t>	class Box{</a:t>
            </a:r>
          </a:p>
          <a:p>
            <a:pPr marL="400050" lvl="1" indent="0">
              <a:buNone/>
            </a:pPr>
            <a:r>
              <a:rPr lang="en-IN"/>
              <a:t>	public:</a:t>
            </a:r>
          </a:p>
          <a:p>
            <a:pPr marL="400050" lvl="1" indent="0">
              <a:buNone/>
            </a:pPr>
            <a:r>
              <a:rPr lang="en-IN"/>
              <a:t>		Box(T val){	cout&lt;&lt;val;	}			</a:t>
            </a:r>
          </a:p>
          <a:p>
            <a:pPr marL="400050" lvl="1" indent="0">
              <a:buNone/>
            </a:pPr>
            <a:r>
              <a:rPr lang="en-IN"/>
              <a:t>};</a:t>
            </a:r>
          </a:p>
          <a:p>
            <a:pPr marL="400050" lvl="1" indent="0">
              <a:buNone/>
            </a:pPr>
            <a:endParaRPr lang="en-IN"/>
          </a:p>
          <a:p>
            <a:pPr marL="400050" lvl="1" indent="0">
              <a:buNone/>
            </a:pPr>
            <a:r>
              <a:rPr lang="en-IN"/>
              <a:t>Box obj(10);	//supported C++17 onwards</a:t>
            </a:r>
            <a:endParaRPr lang="en-IN" dirty="0"/>
          </a:p>
        </p:txBody>
      </p:sp>
      <p:pic>
        <p:nvPicPr>
          <p:cNvPr id="4" name="Graphic 3" descr="Programmer male with solid fill">
            <a:extLst>
              <a:ext uri="{FF2B5EF4-FFF2-40B4-BE49-F238E27FC236}">
                <a16:creationId xmlns:a16="http://schemas.microsoft.com/office/drawing/2014/main" id="{984B0067-A6AF-9914-B978-72C0048EE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50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022A3-565A-6AD1-6A27-E35E44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1312-E2EA-E9C9-7E2A-B11622FB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Template Metaprogramming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9028-E422-AC48-556A-8AB25506B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Template perform computation at the compile time rather than runtime.</a:t>
            </a:r>
          </a:p>
          <a:p>
            <a:r>
              <a:rPr lang="en-IN" dirty="0"/>
              <a:t>Uses recursive template structures where templates call other templates during compilation.</a:t>
            </a:r>
          </a:p>
          <a:p>
            <a:endParaRPr dirty="0"/>
          </a:p>
          <a:p>
            <a:r>
              <a:rPr dirty="0"/>
              <a:t>Example:</a:t>
            </a:r>
            <a:endParaRPr lang="en-IN" dirty="0"/>
          </a:p>
          <a:p>
            <a:pPr>
              <a:lnSpc>
                <a:spcPts val="1425"/>
              </a:lnSpc>
              <a:buNone/>
            </a:pPr>
            <a:r>
              <a:rPr lang="en-IN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// Template metaprogramming for calculating factorial at compile-time</a:t>
            </a:r>
            <a:endParaRPr lang="en-IN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	template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 </a:t>
            </a:r>
          </a:p>
          <a:p>
            <a:pPr>
              <a:lnSpc>
                <a:spcPts val="1425"/>
              </a:lnSpc>
              <a:buNone/>
            </a:pP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	struct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{	</a:t>
            </a: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IN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&gt;::value;	};</a:t>
            </a:r>
          </a:p>
          <a:p>
            <a:pPr>
              <a:lnSpc>
                <a:spcPts val="1425"/>
              </a:lnSpc>
              <a:buNone/>
            </a:pPr>
            <a:b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Specialization for the base case (Factorial&lt;0&gt;)</a:t>
            </a:r>
          </a:p>
          <a:p>
            <a:pPr>
              <a:lnSpc>
                <a:spcPts val="1425"/>
              </a:lnSpc>
              <a:buNone/>
            </a:pP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	template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&lt;&gt; </a:t>
            </a:r>
          </a:p>
          <a:p>
            <a:pPr>
              <a:lnSpc>
                <a:spcPts val="1425"/>
              </a:lnSpc>
              <a:buNone/>
            </a:pP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	struct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	{	</a:t>
            </a: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	};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Graphic 3" descr="Programmer male with solid fill">
            <a:extLst>
              <a:ext uri="{FF2B5EF4-FFF2-40B4-BE49-F238E27FC236}">
                <a16:creationId xmlns:a16="http://schemas.microsoft.com/office/drawing/2014/main" id="{67D7D7D9-5285-C6C3-CDC9-EE6FE1ECA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1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/>
          <a:lstStyle/>
          <a:p>
            <a:pPr algn="l"/>
            <a:r>
              <a:rPr dirty="0"/>
              <a:t>Scenarios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Generic containers and algorithms</a:t>
            </a:r>
          </a:p>
          <a:p>
            <a:r>
              <a:rPr dirty="0"/>
              <a:t>Type-safe operations</a:t>
            </a:r>
          </a:p>
          <a:p>
            <a:r>
              <a:rPr dirty="0"/>
              <a:t>Code reuse and abstraction</a:t>
            </a:r>
          </a:p>
          <a:p>
            <a:r>
              <a:rPr dirty="0"/>
              <a:t>Custom behavior for specific types</a:t>
            </a:r>
            <a:endParaRPr lang="en-IN" dirty="0"/>
          </a:p>
          <a:p>
            <a:r>
              <a:rPr lang="en-IN" dirty="0"/>
              <a:t>Default Template Arguments</a:t>
            </a:r>
          </a:p>
          <a:p>
            <a:endParaRPr lang="en-IN" dirty="0"/>
          </a:p>
        </p:txBody>
      </p:sp>
      <p:pic>
        <p:nvPicPr>
          <p:cNvPr id="6" name="Graphic 5" descr="Programmer male outline">
            <a:extLst>
              <a:ext uri="{FF2B5EF4-FFF2-40B4-BE49-F238E27FC236}">
                <a16:creationId xmlns:a16="http://schemas.microsoft.com/office/drawing/2014/main" id="{6174C6D7-F0A7-0C5A-BF03-EA55EC6DE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946" y="274638"/>
            <a:ext cx="7633854" cy="1143000"/>
          </a:xfrm>
        </p:spPr>
        <p:txBody>
          <a:bodyPr>
            <a:normAutofit/>
          </a:bodyPr>
          <a:lstStyle/>
          <a:p>
            <a:pPr algn="l"/>
            <a:r>
              <a:rPr dirty="0"/>
              <a:t>Limitations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Limitations:</a:t>
            </a:r>
          </a:p>
          <a:p>
            <a:pPr lvl="1"/>
            <a:r>
              <a:rPr dirty="0"/>
              <a:t>Increased complexity</a:t>
            </a:r>
          </a:p>
          <a:p>
            <a:pPr lvl="1"/>
            <a:r>
              <a:rPr dirty="0"/>
              <a:t>Code duplication risk</a:t>
            </a:r>
            <a:endParaRPr lang="en-IN" dirty="0"/>
          </a:p>
          <a:p>
            <a:pPr lvl="1"/>
            <a:r>
              <a:rPr lang="en-IN" dirty="0"/>
              <a:t>Template Specialization for Variable not allowed</a:t>
            </a:r>
            <a:endParaRPr dirty="0"/>
          </a:p>
          <a:p>
            <a:endParaRPr dirty="0"/>
          </a:p>
          <a:p>
            <a:r>
              <a:rPr dirty="0"/>
              <a:t>Best Practices:</a:t>
            </a:r>
            <a:endParaRPr lang="en-IN" dirty="0"/>
          </a:p>
          <a:p>
            <a:pPr lvl="1"/>
            <a:r>
              <a:rPr lang="en-IN" dirty="0"/>
              <a:t>Use templates for generic behavior</a:t>
            </a:r>
            <a:endParaRPr dirty="0"/>
          </a:p>
          <a:p>
            <a:pPr lvl="1"/>
            <a:r>
              <a:rPr dirty="0"/>
              <a:t>Use specialization only when necessary</a:t>
            </a:r>
          </a:p>
          <a:p>
            <a:pPr lvl="1"/>
            <a:r>
              <a:rPr dirty="0"/>
              <a:t>Prefer partial over full specialization</a:t>
            </a:r>
          </a:p>
        </p:txBody>
      </p:sp>
      <p:pic>
        <p:nvPicPr>
          <p:cNvPr id="4" name="Graphic 3" descr="Programmer male outline">
            <a:extLst>
              <a:ext uri="{FF2B5EF4-FFF2-40B4-BE49-F238E27FC236}">
                <a16:creationId xmlns:a16="http://schemas.microsoft.com/office/drawing/2014/main" id="{73DCA223-452A-B432-6640-085A6C7FB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3B058-C6C4-C6BF-1E5C-610D917F0658}"/>
              </a:ext>
            </a:extLst>
          </p:cNvPr>
          <p:cNvSpPr txBox="1"/>
          <p:nvPr/>
        </p:nvSpPr>
        <p:spPr>
          <a:xfrm>
            <a:off x="1311007" y="5201794"/>
            <a:ext cx="6521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https://www.geeksforgeeks.org/cpp/templates-cpp/</a:t>
            </a:r>
            <a:endParaRPr lang="en-IN" dirty="0"/>
          </a:p>
          <a:p>
            <a:r>
              <a:rPr lang="en-IN" dirty="0">
                <a:hlinkClick r:id="rId3"/>
              </a:rPr>
              <a:t>https://en.cppreference.com/w/cpp/language/templates.html</a:t>
            </a:r>
            <a:endParaRPr lang="en-IN" dirty="0"/>
          </a:p>
        </p:txBody>
      </p:sp>
      <p:pic>
        <p:nvPicPr>
          <p:cNvPr id="3" name="Graphic 2" descr="Programmer male outline">
            <a:extLst>
              <a:ext uri="{FF2B5EF4-FFF2-40B4-BE49-F238E27FC236}">
                <a16:creationId xmlns:a16="http://schemas.microsoft.com/office/drawing/2014/main" id="{D18288F2-3AD5-647A-1B67-8DF545FA5E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548265"/>
            <a:ext cx="595746" cy="595746"/>
          </a:xfrm>
          <a:prstGeom prst="rect">
            <a:avLst/>
          </a:prstGeom>
        </p:spPr>
      </p:pic>
      <p:pic>
        <p:nvPicPr>
          <p:cNvPr id="4" name="Graphic 3" descr="Programmer male with solid fill">
            <a:extLst>
              <a:ext uri="{FF2B5EF4-FFF2-40B4-BE49-F238E27FC236}">
                <a16:creationId xmlns:a16="http://schemas.microsoft.com/office/drawing/2014/main" id="{F68344D2-5FC0-7521-4653-42E4BDA579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1054" y="548265"/>
            <a:ext cx="595746" cy="5957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1738</TotalTime>
  <Words>579</Words>
  <Application>Microsoft Office PowerPoint</Application>
  <PresentationFormat>On-screen Show (4:3)</PresentationFormat>
  <Paragraphs>113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Consolas</vt:lpstr>
      <vt:lpstr>Wingdings</vt:lpstr>
      <vt:lpstr>Office Theme</vt:lpstr>
      <vt:lpstr>C++ Templates</vt:lpstr>
      <vt:lpstr>📘 What's Included:</vt:lpstr>
      <vt:lpstr>Introduction to C++ Templates</vt:lpstr>
      <vt:lpstr>Working of Templates</vt:lpstr>
      <vt:lpstr>Function Templates</vt:lpstr>
      <vt:lpstr>Class Templates</vt:lpstr>
      <vt:lpstr>Variable Templates (C++14)</vt:lpstr>
      <vt:lpstr>Template Specialization</vt:lpstr>
      <vt:lpstr>Template Parameters</vt:lpstr>
      <vt:lpstr>Template Argument Deduction</vt:lpstr>
      <vt:lpstr>Template Metaprogramming</vt:lpstr>
      <vt:lpstr>Scenarios and Use Cases</vt:lpstr>
      <vt:lpstr>Limitations and Best Practices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Meena, Ramjilal (DI SW EDA DDCP C2GDS CAT 3 FE)</cp:lastModifiedBy>
  <cp:revision>47</cp:revision>
  <dcterms:created xsi:type="dcterms:W3CDTF">2013-01-27T09:14:16Z</dcterms:created>
  <dcterms:modified xsi:type="dcterms:W3CDTF">2025-08-10T02:57:47Z</dcterms:modified>
  <cp:category/>
</cp:coreProperties>
</file>